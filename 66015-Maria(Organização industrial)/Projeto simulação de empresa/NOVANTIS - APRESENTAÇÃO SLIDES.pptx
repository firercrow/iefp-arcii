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WvTVViblIha3xWsjKNwgTaYOL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dc7d63dbe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adc7d63dbe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adc7d63dbe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dc7d63dbe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adc7d63dbe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adc7d63dbe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dc7d63dbe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adc7d63dbe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adc7d63dbe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dc7d63db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adc7d63db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adc7d63db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dc7d63dbe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adc7d63dbe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adc7d63dbe_0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7.png"/><Relationship Id="rId4" Type="http://schemas.openxmlformats.org/officeDocument/2006/relationships/image" Target="../media/image34.png"/><Relationship Id="rId5" Type="http://schemas.openxmlformats.org/officeDocument/2006/relationships/image" Target="../media/image24.jpg"/><Relationship Id="rId6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7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Relationship Id="rId4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6100763" y="428625"/>
            <a:ext cx="2900363" cy="428625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1" title="Gemini_Generated_Image_68sxt268sxt268sx.png"/>
          <p:cNvPicPr preferRelativeResize="0"/>
          <p:nvPr/>
        </p:nvPicPr>
        <p:blipFill rotWithShape="1">
          <a:blip r:embed="rId4">
            <a:alphaModFix/>
          </a:blip>
          <a:srcRect b="9403" l="0" r="0" t="0"/>
          <a:stretch/>
        </p:blipFill>
        <p:spPr>
          <a:xfrm>
            <a:off x="4900600" y="714375"/>
            <a:ext cx="4100526" cy="371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428575" y="1831496"/>
            <a:ext cx="53865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3293"/>
              <a:buFont typeface="Calibri"/>
              <a:buNone/>
            </a:pPr>
            <a:r>
              <a:rPr b="1" i="0" lang="en-US" sz="3094" u="none" cap="none" strike="noStrike">
                <a:solidFill>
                  <a:srgbClr val="004C99"/>
                </a:solidFill>
              </a:rPr>
              <a:t>NOVANTIS</a:t>
            </a:r>
            <a:endParaRPr b="1" sz="3094">
              <a:solidFill>
                <a:srgbClr val="004C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3293"/>
              <a:buFont typeface="Calibri"/>
              <a:buNone/>
            </a:pPr>
            <a:r>
              <a:rPr b="1" i="0" lang="en-US" sz="3094" u="none" cap="none" strike="noStrike">
                <a:solidFill>
                  <a:srgbClr val="004C99"/>
                </a:solidFill>
              </a:rPr>
              <a:t>O Próximo Nível da </a:t>
            </a:r>
            <a:r>
              <a:rPr b="1" lang="en-US" sz="3094">
                <a:solidFill>
                  <a:srgbClr val="004C99"/>
                </a:solidFill>
              </a:rPr>
              <a:t>A</a:t>
            </a:r>
            <a:r>
              <a:rPr b="1" i="0" lang="en-US" sz="3094" u="none" cap="none" strike="noStrike">
                <a:solidFill>
                  <a:srgbClr val="004C99"/>
                </a:solidFill>
              </a:rPr>
              <a:t>utomação</a:t>
            </a:r>
            <a:endParaRPr i="0" sz="3094" u="none" cap="none" strike="noStrike">
              <a:solidFill>
                <a:schemeClr val="dk1"/>
              </a:solidFill>
            </a:endParaRPr>
          </a:p>
        </p:txBody>
      </p:sp>
      <p:pic>
        <p:nvPicPr>
          <p:cNvPr id="20" name="Google Shape;20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300" y="171450"/>
            <a:ext cx="707985" cy="60178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 txBox="1"/>
          <p:nvPr/>
        </p:nvSpPr>
        <p:spPr>
          <a:xfrm>
            <a:off x="988900" y="95238"/>
            <a:ext cx="5659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250" lIns="113250" spcFirstLastPara="1" rIns="113250" wrap="square" tIns="11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8">
                <a:latin typeface="Times New Roman"/>
                <a:ea typeface="Times New Roman"/>
                <a:cs typeface="Times New Roman"/>
                <a:sym typeface="Times New Roman"/>
              </a:rPr>
              <a:t>IEFP - INSTITUTO DE EMPREGO E FORMAÇÃO PROFISSIONAL</a:t>
            </a:r>
            <a:endParaRPr sz="1734"/>
          </a:p>
        </p:txBody>
      </p:sp>
      <p:pic>
        <p:nvPicPr>
          <p:cNvPr id="22" name="Google Shape;22;p1"/>
          <p:cNvPicPr preferRelativeResize="0"/>
          <p:nvPr/>
        </p:nvPicPr>
        <p:blipFill rotWithShape="1">
          <a:blip r:embed="rId6">
            <a:alphaModFix/>
          </a:blip>
          <a:srcRect b="0" l="0" r="21758" t="0"/>
          <a:stretch/>
        </p:blipFill>
        <p:spPr>
          <a:xfrm>
            <a:off x="4572000" y="4429125"/>
            <a:ext cx="4486275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428625" y="1001018"/>
            <a:ext cx="4972050" cy="412552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004C99"/>
                </a:solidFill>
              </a:rPr>
              <a:t>NOVANTIS: Inovação e Vanguarda</a:t>
            </a:r>
            <a:endParaRPr i="0" sz="1602" u="none" cap="none" strike="noStrike">
              <a:solidFill>
                <a:schemeClr val="dk1"/>
              </a:solidFill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28625" y="1699320"/>
            <a:ext cx="497205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6B00"/>
                </a:solidFill>
              </a:rPr>
              <a:t>NOVUS</a:t>
            </a:r>
            <a:endParaRPr i="0" sz="2436" u="none" cap="none" strike="noStrike">
              <a:solidFill>
                <a:schemeClr val="dk1"/>
              </a:solidFill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64344" y="2201168"/>
            <a:ext cx="493633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69"/>
              <a:buFont typeface="Calibri"/>
              <a:buNone/>
            </a:pPr>
            <a:r>
              <a:rPr i="0" lang="en-US" sz="1269" u="none" cap="none" strike="noStrike">
                <a:solidFill>
                  <a:srgbClr val="333333"/>
                </a:solidFill>
              </a:rPr>
              <a:t>(Latim): Novo</a:t>
            </a:r>
            <a:endParaRPr i="0" sz="1269" u="none" cap="none" strike="noStrike">
              <a:solidFill>
                <a:schemeClr val="dk1"/>
              </a:solidFill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28625" y="2613720"/>
            <a:ext cx="497205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6B00"/>
                </a:solidFill>
              </a:rPr>
              <a:t>AVANT</a:t>
            </a:r>
            <a:endParaRPr i="0" sz="2436" u="none" cap="none" strike="noStrike">
              <a:solidFill>
                <a:schemeClr val="dk1"/>
              </a:solidFill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64344" y="3115568"/>
            <a:ext cx="493633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69"/>
              <a:buFont typeface="Calibri"/>
              <a:buNone/>
            </a:pPr>
            <a:r>
              <a:rPr i="0" lang="en-US" sz="1269" u="none" cap="none" strike="noStrike">
                <a:solidFill>
                  <a:srgbClr val="333333"/>
                </a:solidFill>
              </a:rPr>
              <a:t>(Francês): Vanguarda</a:t>
            </a:r>
            <a:endParaRPr i="0" sz="1269" u="none" cap="none" strike="noStrike">
              <a:solidFill>
                <a:schemeClr val="dk1"/>
              </a:solidFill>
            </a:endParaRPr>
          </a:p>
        </p:txBody>
      </p:sp>
      <p:pic>
        <p:nvPicPr>
          <p:cNvPr id="34" name="Google Shape;34;p2" title="Gemini_Generated_Image_ga0hdsga0hdsga0h.png"/>
          <p:cNvPicPr preferRelativeResize="0"/>
          <p:nvPr/>
        </p:nvPicPr>
        <p:blipFill rotWithShape="1">
          <a:blip r:embed="rId4">
            <a:alphaModFix/>
          </a:blip>
          <a:srcRect b="24852" l="27973" r="30313" t="27483"/>
          <a:stretch/>
        </p:blipFill>
        <p:spPr>
          <a:xfrm>
            <a:off x="5400675" y="1345962"/>
            <a:ext cx="3218424" cy="245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/>
          <p:nvPr/>
        </p:nvSpPr>
        <p:spPr>
          <a:xfrm>
            <a:off x="714375" y="562725"/>
            <a:ext cx="1631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602"/>
              <a:buFont typeface="Calibri"/>
              <a:buNone/>
            </a:pPr>
            <a:r>
              <a:rPr b="1" i="0" lang="en-US" sz="3000" u="none" cap="none" strike="noStrike">
                <a:solidFill>
                  <a:srgbClr val="004C99"/>
                </a:solidFill>
              </a:rPr>
              <a:t>Missão:</a:t>
            </a:r>
            <a:endParaRPr b="1" i="0" sz="3000" u="none" cap="none" strike="noStrike">
              <a:solidFill>
                <a:schemeClr val="dk1"/>
              </a:solidFill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714375" y="1279807"/>
            <a:ext cx="77154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62"/>
              </a:lnSpc>
              <a:spcBef>
                <a:spcPts val="0"/>
              </a:spcBef>
              <a:spcAft>
                <a:spcPts val="0"/>
              </a:spcAft>
              <a:buClr>
                <a:srgbClr val="00BD8D"/>
              </a:buClr>
              <a:buSzPts val="1193"/>
              <a:buFont typeface="Calibri"/>
              <a:buNone/>
            </a:pPr>
            <a:r>
              <a:rPr b="1" i="0" lang="en-US" sz="1593" u="none" cap="none" strike="noStrike">
                <a:solidFill>
                  <a:srgbClr val="00BD8D"/>
                </a:solidFill>
              </a:rPr>
              <a:t>Alcançar, de forma eficiente e acessível, o próximo nível da automação: máquinas dotadas de capacidade de autoaprendizagem, baseadas na sua própria experiência operacional.</a:t>
            </a:r>
            <a:endParaRPr b="1" i="0" sz="1593" u="none" cap="none" strike="noStrike">
              <a:solidFill>
                <a:schemeClr val="dk1"/>
              </a:solidFill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14375" y="2659950"/>
            <a:ext cx="94212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5"/>
              <a:buFont typeface="Calibri"/>
              <a:buNone/>
            </a:pPr>
            <a:r>
              <a:rPr b="1" i="0" lang="en-US" sz="1327" u="none" cap="none" strike="noStrike">
                <a:solidFill>
                  <a:srgbClr val="333333"/>
                </a:solidFill>
              </a:rPr>
              <a:t>Estratégia de Evolução:</a:t>
            </a:r>
            <a:endParaRPr i="0" sz="1327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44" name="Google Shape;4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316258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"/>
          <p:cNvSpPr/>
          <p:nvPr/>
        </p:nvSpPr>
        <p:spPr>
          <a:xfrm>
            <a:off x="1098194" y="3150577"/>
            <a:ext cx="80748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82"/>
              <a:buFont typeface="Calibri"/>
              <a:buNone/>
            </a:pPr>
            <a:r>
              <a:rPr i="0" lang="en-US" sz="1404" u="none" cap="none" strike="noStrike">
                <a:solidFill>
                  <a:srgbClr val="333333"/>
                </a:solidFill>
              </a:rPr>
              <a:t>Desenvolvimento de Inteligência Artificial própria, alinhada com a visão e os objetivos da empresa.</a:t>
            </a:r>
            <a:endParaRPr i="0" sz="1404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46" name="Google Shape;4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370090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"/>
          <p:cNvSpPr/>
          <p:nvPr/>
        </p:nvSpPr>
        <p:spPr>
          <a:xfrm>
            <a:off x="1098194" y="3700911"/>
            <a:ext cx="54699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82"/>
              <a:buFont typeface="Calibri"/>
              <a:buNone/>
            </a:pPr>
            <a:r>
              <a:rPr i="0" lang="en-US" sz="1404" u="none" cap="none" strike="noStrike">
                <a:solidFill>
                  <a:srgbClr val="333333"/>
                </a:solidFill>
              </a:rPr>
              <a:t>Implementação progressiva em máquinas e sistemas já existentes.</a:t>
            </a:r>
            <a:endParaRPr i="0" sz="1404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48" name="Google Shape;4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2938" y="4310876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/>
          <p:nvPr/>
        </p:nvSpPr>
        <p:spPr>
          <a:xfrm>
            <a:off x="1150534" y="4251243"/>
            <a:ext cx="66366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82"/>
              <a:buFont typeface="Calibri"/>
              <a:buNone/>
            </a:pPr>
            <a:r>
              <a:rPr i="0" lang="en-US" sz="1404" u="none" cap="none" strike="noStrike">
                <a:solidFill>
                  <a:srgbClr val="333333"/>
                </a:solidFill>
              </a:rPr>
              <a:t>Desenvolvimento e produção de máquinas totalmente concebidas internamente.</a:t>
            </a:r>
            <a:endParaRPr i="0" sz="1404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" name="Google Shape;55;g3adc7d63dbe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9988" y="165337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g3adc7d63dbe_0_7"/>
          <p:cNvSpPr/>
          <p:nvPr/>
        </p:nvSpPr>
        <p:spPr>
          <a:xfrm>
            <a:off x="1241864" y="2224877"/>
            <a:ext cx="9450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193"/>
              <a:buFont typeface="Calibri"/>
              <a:buNone/>
            </a:pPr>
            <a:r>
              <a:rPr b="1" i="0" lang="en-US" sz="1493" u="none" cap="none" strike="noStrike">
                <a:solidFill>
                  <a:srgbClr val="004C99"/>
                </a:solidFill>
              </a:rPr>
              <a:t>Evolução</a:t>
            </a:r>
            <a:endParaRPr i="0" sz="1493" u="none" cap="none" strike="noStrike">
              <a:solidFill>
                <a:schemeClr val="dk1"/>
              </a:solidFill>
            </a:endParaRPr>
          </a:p>
        </p:txBody>
      </p:sp>
      <p:sp>
        <p:nvSpPr>
          <p:cNvPr id="57" name="Google Shape;57;g3adc7d63dbe_0_7"/>
          <p:cNvSpPr/>
          <p:nvPr/>
        </p:nvSpPr>
        <p:spPr>
          <a:xfrm>
            <a:off x="571500" y="2932453"/>
            <a:ext cx="22860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350" u="none" cap="none" strike="noStrike">
                <a:solidFill>
                  <a:srgbClr val="333333"/>
                </a:solidFill>
              </a:rPr>
              <a:t>Progresso tecnológico contínuo, colocando o desenvolvimento acima do lucro.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58" name="Google Shape;58;g3adc7d63dbe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9913" y="165337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g3adc7d63dbe_0_7"/>
          <p:cNvSpPr/>
          <p:nvPr/>
        </p:nvSpPr>
        <p:spPr>
          <a:xfrm>
            <a:off x="4437449" y="2224877"/>
            <a:ext cx="473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193"/>
              <a:buFont typeface="Calibri"/>
              <a:buNone/>
            </a:pPr>
            <a:r>
              <a:rPr b="1" i="0" lang="en-US" sz="1493" u="none" cap="none" strike="noStrike">
                <a:solidFill>
                  <a:srgbClr val="004C99"/>
                </a:solidFill>
              </a:rPr>
              <a:t>Foco</a:t>
            </a:r>
            <a:endParaRPr i="0" sz="1493" u="none" cap="none" strike="noStrike">
              <a:solidFill>
                <a:schemeClr val="dk1"/>
              </a:solidFill>
            </a:endParaRPr>
          </a:p>
        </p:txBody>
      </p:sp>
      <p:sp>
        <p:nvSpPr>
          <p:cNvPr id="60" name="Google Shape;60;g3adc7d63dbe_0_7"/>
          <p:cNvSpPr/>
          <p:nvPr/>
        </p:nvSpPr>
        <p:spPr>
          <a:xfrm>
            <a:off x="3429000" y="2932453"/>
            <a:ext cx="22860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350" u="none" cap="none" strike="noStrike">
                <a:solidFill>
                  <a:srgbClr val="333333"/>
                </a:solidFill>
              </a:rPr>
              <a:t>Pessoas orientadas para a inovação, com profissionalismo e eficiência.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61" name="Google Shape;61;g3adc7d63dbe_0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61609" y="1536376"/>
            <a:ext cx="535781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adc7d63dbe_0_7"/>
          <p:cNvSpPr/>
          <p:nvPr/>
        </p:nvSpPr>
        <p:spPr>
          <a:xfrm>
            <a:off x="6286500" y="2107877"/>
            <a:ext cx="2286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193"/>
              <a:buFont typeface="Calibri"/>
              <a:buNone/>
            </a:pPr>
            <a:r>
              <a:rPr b="1" i="0" lang="en-US" sz="1493" u="none" cap="none" strike="noStrike">
                <a:solidFill>
                  <a:srgbClr val="004C99"/>
                </a:solidFill>
              </a:rPr>
              <a:t>Flexibilidade e Funcionalidade</a:t>
            </a:r>
            <a:endParaRPr i="0" sz="1493" u="none" cap="none" strike="noStrike">
              <a:solidFill>
                <a:schemeClr val="dk1"/>
              </a:solidFill>
            </a:endParaRPr>
          </a:p>
        </p:txBody>
      </p:sp>
      <p:sp>
        <p:nvSpPr>
          <p:cNvPr id="63" name="Google Shape;63;g3adc7d63dbe_0_7"/>
          <p:cNvSpPr/>
          <p:nvPr/>
        </p:nvSpPr>
        <p:spPr>
          <a:xfrm>
            <a:off x="6286500" y="2932461"/>
            <a:ext cx="22860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350" u="none" cap="none" strike="noStrike">
                <a:solidFill>
                  <a:srgbClr val="333333"/>
                </a:solidFill>
              </a:rPr>
              <a:t>Resultados acima de métodos; valorização de ideias inovadoras que gerem impacto real.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64" name="Google Shape;64;g3adc7d63dbe_0_7"/>
          <p:cNvSpPr/>
          <p:nvPr/>
        </p:nvSpPr>
        <p:spPr>
          <a:xfrm>
            <a:off x="714375" y="562725"/>
            <a:ext cx="1631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602"/>
              <a:buFont typeface="Calibri"/>
              <a:buNone/>
            </a:pPr>
            <a:r>
              <a:rPr b="1" lang="en-US" sz="3000">
                <a:solidFill>
                  <a:srgbClr val="004C99"/>
                </a:solidFill>
              </a:rPr>
              <a:t>Valores</a:t>
            </a:r>
            <a:r>
              <a:rPr b="1" i="0" lang="en-US" sz="3000" u="none" cap="none" strike="noStrike">
                <a:solidFill>
                  <a:srgbClr val="004C99"/>
                </a:solidFill>
              </a:rPr>
              <a:t>:</a:t>
            </a:r>
            <a:endParaRPr b="1" i="0" sz="30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dc7d63dbe_0_31"/>
          <p:cNvSpPr/>
          <p:nvPr/>
        </p:nvSpPr>
        <p:spPr>
          <a:xfrm>
            <a:off x="714375" y="562725"/>
            <a:ext cx="34527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602"/>
              <a:buFont typeface="Calibri"/>
              <a:buNone/>
            </a:pPr>
            <a:r>
              <a:rPr b="1" lang="en-US" sz="3000">
                <a:solidFill>
                  <a:srgbClr val="004C99"/>
                </a:solidFill>
              </a:rPr>
              <a:t>Organograma</a:t>
            </a:r>
            <a:endParaRPr b="1" i="0" sz="3000" u="none" cap="none" strike="noStrike">
              <a:solidFill>
                <a:schemeClr val="dk1"/>
              </a:solidFill>
            </a:endParaRPr>
          </a:p>
        </p:txBody>
      </p:sp>
      <p:pic>
        <p:nvPicPr>
          <p:cNvPr id="71" name="Google Shape;71;g3adc7d63dbe_0_31" title="NOVANTIS_ORGANOGRAMA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163" y="1134775"/>
            <a:ext cx="7787685" cy="363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dc7d63dbe_0_46"/>
          <p:cNvSpPr/>
          <p:nvPr/>
        </p:nvSpPr>
        <p:spPr>
          <a:xfrm>
            <a:off x="714375" y="562725"/>
            <a:ext cx="79773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602"/>
              <a:buFont typeface="Calibri"/>
              <a:buNone/>
            </a:pPr>
            <a:r>
              <a:rPr b="1" lang="en-US" sz="3000">
                <a:solidFill>
                  <a:srgbClr val="004C99"/>
                </a:solidFill>
              </a:rPr>
              <a:t>Localização</a:t>
            </a:r>
            <a:endParaRPr b="1" i="0" sz="3000" u="none" cap="none" strike="noStrike">
              <a:solidFill>
                <a:schemeClr val="dk1"/>
              </a:solidFill>
            </a:endParaRPr>
          </a:p>
        </p:txBody>
      </p:sp>
      <p:pic>
        <p:nvPicPr>
          <p:cNvPr id="78" name="Google Shape;78;g3adc7d63dbe_0_46" title="Captura de tela 2025-12-05 080929.png"/>
          <p:cNvPicPr preferRelativeResize="0"/>
          <p:nvPr/>
        </p:nvPicPr>
        <p:blipFill rotWithShape="1">
          <a:blip r:embed="rId3">
            <a:alphaModFix/>
          </a:blip>
          <a:srcRect b="0" l="11777" r="0" t="0"/>
          <a:stretch/>
        </p:blipFill>
        <p:spPr>
          <a:xfrm>
            <a:off x="4505775" y="1375400"/>
            <a:ext cx="4185900" cy="26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3adc7d63dbe_0_46"/>
          <p:cNvSpPr/>
          <p:nvPr/>
        </p:nvSpPr>
        <p:spPr>
          <a:xfrm>
            <a:off x="714375" y="2574691"/>
            <a:ext cx="22860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lang="en-US" sz="1350">
                <a:solidFill>
                  <a:srgbClr val="333333"/>
                </a:solidFill>
              </a:rPr>
              <a:t>Rua dos Pedreiros, Adaúfe, Braga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80" name="Google Shape;80;g3adc7d63dbe_0_46"/>
          <p:cNvSpPr/>
          <p:nvPr/>
        </p:nvSpPr>
        <p:spPr>
          <a:xfrm rot="7965609">
            <a:off x="1675544" y="2002686"/>
            <a:ext cx="363660" cy="353469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adc7d63dbe_0_46"/>
          <p:cNvSpPr/>
          <p:nvPr/>
        </p:nvSpPr>
        <p:spPr>
          <a:xfrm>
            <a:off x="1747725" y="2067969"/>
            <a:ext cx="219300" cy="23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dc7d63dbe_0_57"/>
          <p:cNvSpPr/>
          <p:nvPr/>
        </p:nvSpPr>
        <p:spPr>
          <a:xfrm>
            <a:off x="714375" y="562725"/>
            <a:ext cx="79773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602"/>
              <a:buFont typeface="Calibri"/>
              <a:buNone/>
            </a:pPr>
            <a:r>
              <a:rPr b="1" lang="en-US" sz="3000">
                <a:solidFill>
                  <a:srgbClr val="004C99"/>
                </a:solidFill>
              </a:rPr>
              <a:t>Suprimentos</a:t>
            </a:r>
            <a:endParaRPr b="1" i="0" sz="3000" u="none" cap="none" strike="noStrike">
              <a:solidFill>
                <a:schemeClr val="dk1"/>
              </a:solidFill>
            </a:endParaRPr>
          </a:p>
        </p:txBody>
      </p:sp>
      <p:sp>
        <p:nvSpPr>
          <p:cNvPr id="88" name="Google Shape;88;g3adc7d63dbe_0_57"/>
          <p:cNvSpPr/>
          <p:nvPr/>
        </p:nvSpPr>
        <p:spPr>
          <a:xfrm>
            <a:off x="714375" y="1373700"/>
            <a:ext cx="3839700" cy="3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Fornecedores estratégicos: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Material elétrico: Rodel, Sapol, Simplux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Metais: Martins Ferreira, Pedro Peixoto, Ibérica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Plásticos e moldes: Safiplásticos, Plasticity, In2Mold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Baterias personalizadas e robótica: CMBaterias, PTRobotics</a:t>
            </a:r>
            <a:endParaRPr sz="1800">
              <a:solidFill>
                <a:srgbClr val="333333"/>
              </a:solidFill>
            </a:endParaRPr>
          </a:p>
        </p:txBody>
      </p:sp>
      <p:pic>
        <p:nvPicPr>
          <p:cNvPr id="89" name="Google Shape;89;g3adc7d63dbe_0_57" title="Gemini_Generated_Image_ogjuqogjuqogjuqo.png"/>
          <p:cNvPicPr preferRelativeResize="0"/>
          <p:nvPr/>
        </p:nvPicPr>
        <p:blipFill rotWithShape="1">
          <a:blip r:embed="rId3">
            <a:alphaModFix/>
          </a:blip>
          <a:srcRect b="8575" l="0" r="0" t="0"/>
          <a:stretch/>
        </p:blipFill>
        <p:spPr>
          <a:xfrm>
            <a:off x="4984200" y="1131213"/>
            <a:ext cx="3707474" cy="3389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428625" y="1221025"/>
            <a:ext cx="82479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2"/>
              <a:buFont typeface="Calibri"/>
              <a:buNone/>
            </a:pPr>
            <a:r>
              <a:rPr b="1" i="0" lang="en-US" sz="1556" u="none" cap="none" strike="noStrike">
                <a:solidFill>
                  <a:srgbClr val="333333"/>
                </a:solidFill>
              </a:rPr>
              <a:t>Foco em Inteligência Artificial aplicada a sistemas físicos (Physical AI) para os setores industrial e logístico.</a:t>
            </a:r>
            <a:endParaRPr i="0" sz="1556" u="none" cap="none" strike="noStrike">
              <a:solidFill>
                <a:schemeClr val="dk1"/>
              </a:solidFill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28625" y="2404789"/>
            <a:ext cx="38868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9275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36"/>
              <a:buFont typeface="Calibri"/>
              <a:buNone/>
            </a:pPr>
            <a:r>
              <a:rPr b="1" i="0" lang="en-US" sz="1340" u="none" cap="none" strike="noStrike">
                <a:solidFill>
                  <a:srgbClr val="FF6B00"/>
                </a:solidFill>
              </a:rPr>
              <a:t>Produtos</a:t>
            </a:r>
            <a:endParaRPr i="0" sz="1340" u="none" cap="none" strike="noStrike">
              <a:solidFill>
                <a:schemeClr val="dk1"/>
              </a:solidFill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28625" y="2878855"/>
            <a:ext cx="38868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9275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89"/>
              <a:buFont typeface="Calibri"/>
              <a:buNone/>
            </a:pPr>
            <a:r>
              <a:rPr i="0" lang="en-US" sz="1293" u="none" cap="none" strike="noStrike">
                <a:solidFill>
                  <a:srgbClr val="333333"/>
                </a:solidFill>
              </a:rPr>
              <a:t>Máquinas e sistemas robóticos com capacidade de autoaprendizagem.</a:t>
            </a:r>
            <a:endParaRPr i="0" sz="1293" u="none" cap="none" strike="noStrike">
              <a:solidFill>
                <a:schemeClr val="dk1"/>
              </a:solidFill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28625" y="3516146"/>
            <a:ext cx="38868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9275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89"/>
              <a:buFont typeface="Calibri"/>
              <a:buNone/>
            </a:pPr>
            <a:r>
              <a:rPr i="0" lang="en-US" sz="1293" u="none" cap="none" strike="noStrike">
                <a:solidFill>
                  <a:srgbClr val="333333"/>
                </a:solidFill>
              </a:rPr>
              <a:t>Capazes de se adaptar ao ambiente e otimizar processos.</a:t>
            </a:r>
            <a:endParaRPr i="0" sz="1293" u="none" cap="none" strike="noStrike">
              <a:solidFill>
                <a:schemeClr val="dk1"/>
              </a:solidFill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28625" y="4153434"/>
            <a:ext cx="38868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9275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89"/>
              <a:buFont typeface="Calibri"/>
              <a:buNone/>
            </a:pPr>
            <a:r>
              <a:rPr i="0" lang="en-US" sz="1293" u="none" cap="none" strike="noStrike">
                <a:solidFill>
                  <a:srgbClr val="333333"/>
                </a:solidFill>
              </a:rPr>
              <a:t>Integração em equipamentos existentes ou sistemas totalmente desenvolvidos pela NOVANTIS.</a:t>
            </a:r>
            <a:endParaRPr i="0" sz="1293" u="none" cap="none" strike="noStrike">
              <a:solidFill>
                <a:schemeClr val="dk1"/>
              </a:solidFill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552690" y="2404789"/>
            <a:ext cx="38868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9275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BD8D"/>
              </a:buClr>
              <a:buSzPts val="1036"/>
              <a:buFont typeface="Calibri"/>
              <a:buNone/>
            </a:pPr>
            <a:r>
              <a:rPr b="1" i="0" lang="en-US" sz="1340" u="none" cap="none" strike="noStrike">
                <a:solidFill>
                  <a:srgbClr val="00BD8D"/>
                </a:solidFill>
              </a:rPr>
              <a:t>Serviços</a:t>
            </a:r>
            <a:endParaRPr i="0" sz="1340" u="none" cap="none" strike="noStrike">
              <a:solidFill>
                <a:schemeClr val="dk1"/>
              </a:solidFill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552690" y="2878855"/>
            <a:ext cx="38868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9275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89"/>
              <a:buFont typeface="Calibri"/>
              <a:buNone/>
            </a:pPr>
            <a:r>
              <a:rPr i="0" lang="en-US" sz="1293" u="none" cap="none" strike="noStrike">
                <a:solidFill>
                  <a:srgbClr val="333333"/>
                </a:solidFill>
              </a:rPr>
              <a:t>Integração e personalização de sistemas automatizados.</a:t>
            </a:r>
            <a:endParaRPr i="0" sz="1293" u="none" cap="none" strike="noStrike">
              <a:solidFill>
                <a:schemeClr val="dk1"/>
              </a:solidFill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552690" y="3516146"/>
            <a:ext cx="38868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9275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89"/>
              <a:buFont typeface="Calibri"/>
              <a:buNone/>
            </a:pPr>
            <a:r>
              <a:rPr i="0" lang="en-US" sz="1293" u="none" cap="none" strike="noStrike">
                <a:solidFill>
                  <a:srgbClr val="333333"/>
                </a:solidFill>
              </a:rPr>
              <a:t>Configuração de IA e manutenção preditiva.</a:t>
            </a:r>
            <a:endParaRPr i="0" sz="1293" u="none" cap="none" strike="noStrike">
              <a:solidFill>
                <a:schemeClr val="dk1"/>
              </a:solidFill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52690" y="4153434"/>
            <a:ext cx="38868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9275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89"/>
              <a:buFont typeface="Calibri"/>
              <a:buNone/>
            </a:pPr>
            <a:r>
              <a:rPr i="0" lang="en-US" sz="1293" u="none" cap="none" strike="noStrike">
                <a:solidFill>
                  <a:srgbClr val="333333"/>
                </a:solidFill>
              </a:rPr>
              <a:t>Melhoria contínua de processos.</a:t>
            </a:r>
            <a:endParaRPr i="0" sz="1293" u="none" cap="none" strike="noStrike">
              <a:solidFill>
                <a:schemeClr val="dk1"/>
              </a:solidFill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28625" y="393375"/>
            <a:ext cx="79773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noAutofit/>
          </a:bodyPr>
          <a:lstStyle/>
          <a:p>
            <a:pPr indent="0" lvl="0" marL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681"/>
              <a:buFont typeface="Calibri"/>
              <a:buNone/>
            </a:pPr>
            <a:r>
              <a:rPr b="1" lang="en-US" sz="3086">
                <a:solidFill>
                  <a:srgbClr val="004C99"/>
                </a:solidFill>
              </a:rPr>
              <a:t>Soluções de Physical AI</a:t>
            </a:r>
            <a:endParaRPr b="1" sz="4000">
              <a:solidFill>
                <a:srgbClr val="004C9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428625" y="428625"/>
            <a:ext cx="8286750" cy="41255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28625" y="2194750"/>
            <a:ext cx="32028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93"/>
              <a:buFont typeface="Calibri"/>
              <a:buNone/>
            </a:pPr>
            <a:r>
              <a:rPr b="1" i="0" lang="en-US" sz="1593" u="none" cap="none" strike="noStrike">
                <a:solidFill>
                  <a:srgbClr val="FF6B00"/>
                </a:solidFill>
              </a:rPr>
              <a:t>A principal vantagem reside na integração vertical</a:t>
            </a:r>
            <a:r>
              <a:rPr b="1" lang="en-US" sz="1593">
                <a:solidFill>
                  <a:srgbClr val="FF6B00"/>
                </a:solidFill>
              </a:rPr>
              <a:t> </a:t>
            </a:r>
            <a:r>
              <a:rPr b="1" i="0" lang="en-US" sz="1593" u="none" cap="none" strike="noStrike">
                <a:solidFill>
                  <a:srgbClr val="FF6B00"/>
                </a:solidFill>
              </a:rPr>
              <a:t>entre Inteligência Artificial própria e aplicação direta em máquinas físicas.</a:t>
            </a:r>
            <a:endParaRPr i="0" sz="1593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114" name="Google Shape;1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7" y="1126948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4593425" y="1086450"/>
            <a:ext cx="43215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650" u="none" cap="none" strike="noStrike">
                <a:solidFill>
                  <a:srgbClr val="333333"/>
                </a:solidFill>
              </a:rPr>
              <a:t>Aposta em flexibilidade, aprendizagem contínua e adaptação ao ambiente real.</a:t>
            </a:r>
            <a:endParaRPr i="0" sz="165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116" name="Google Shape;11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1544" y="232321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/>
          <p:nvPr/>
        </p:nvSpPr>
        <p:spPr>
          <a:xfrm>
            <a:off x="4632829" y="2287083"/>
            <a:ext cx="42819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650" u="none" cap="none" strike="noStrike">
                <a:solidFill>
                  <a:srgbClr val="333333"/>
                </a:solidFill>
              </a:rPr>
              <a:t>Foco em nichos pouco explorados, reduzindo a concorrência direta e criando alto valor acrescentado.</a:t>
            </a:r>
            <a:endParaRPr i="0" sz="165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118" name="Google Shape;11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3407" y="3519510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/>
          <p:nvPr/>
        </p:nvSpPr>
        <p:spPr>
          <a:xfrm>
            <a:off x="4593425" y="3487717"/>
            <a:ext cx="4321500" cy="12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650" u="none" cap="none" strike="noStrike">
                <a:solidFill>
                  <a:srgbClr val="333333"/>
                </a:solidFill>
              </a:rPr>
              <a:t>Proximidade com fornecedores e controlo integrado de hardware e software garantem rapidez de desenvolvimento e controlo de custos.</a:t>
            </a:r>
            <a:endParaRPr i="0" sz="1650" u="none" cap="none" strike="noStrike">
              <a:solidFill>
                <a:schemeClr val="dk1"/>
              </a:solidFill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28625" y="393375"/>
            <a:ext cx="79773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602"/>
              <a:buFont typeface="Calibri"/>
              <a:buNone/>
            </a:pPr>
            <a:r>
              <a:rPr b="1" lang="en-US" sz="3000">
                <a:solidFill>
                  <a:srgbClr val="004C99"/>
                </a:solidFill>
              </a:rPr>
              <a:t>Integração Vertical e Flexibilidade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681"/>
              <a:buFont typeface="Calibri"/>
              <a:buNone/>
            </a:pPr>
            <a:r>
              <a:t/>
            </a:r>
            <a:endParaRPr b="1" sz="3086">
              <a:solidFill>
                <a:srgbClr val="004C9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" name="Google Shape;12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913" y="928688"/>
            <a:ext cx="3286125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/>
          <p:nvPr/>
        </p:nvSpPr>
        <p:spPr>
          <a:xfrm>
            <a:off x="4029075" y="334246"/>
            <a:ext cx="49722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602"/>
              <a:buFont typeface="Calibri"/>
              <a:buNone/>
            </a:pPr>
            <a:r>
              <a:rPr b="1" i="0" lang="en-US" sz="3000" u="none" cap="none" strike="noStrike">
                <a:solidFill>
                  <a:srgbClr val="004C99"/>
                </a:solidFill>
              </a:rPr>
              <a:t>Pilares da Inovação Tecnológica</a:t>
            </a:r>
            <a:endParaRPr i="0" sz="3000" u="none" cap="none" strike="noStrike">
              <a:solidFill>
                <a:schemeClr val="dk1"/>
              </a:solidFill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029075" y="1377850"/>
            <a:ext cx="49722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u="none" cap="none" strike="noStrike">
                <a:solidFill>
                  <a:srgbClr val="333333"/>
                </a:solidFill>
              </a:rPr>
              <a:t>A investigação e o desenvolvimento tecnológico são pilares centrais da NOVANTIS, baseados nas mais avançadas tendências em robótica e IA.</a:t>
            </a:r>
            <a:endParaRPr i="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130" name="Google Shape;13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29075" y="2433340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3978550" y="2746449"/>
            <a:ext cx="2386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975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87"/>
              <a:buFont typeface="Calibri"/>
              <a:buNone/>
            </a:pPr>
            <a:r>
              <a:rPr b="1" i="0" lang="en-US" u="none" cap="none" strike="noStrike">
                <a:solidFill>
                  <a:srgbClr val="FF6B00"/>
                </a:solidFill>
              </a:rPr>
              <a:t>IA Adaptativa e Autoaprendizagem</a:t>
            </a:r>
            <a:endParaRPr i="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132" name="Google Shape;13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4554" y="2492871"/>
            <a:ext cx="10715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6614554" y="2746449"/>
            <a:ext cx="2386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975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87"/>
              <a:buFont typeface="Calibri"/>
              <a:buNone/>
            </a:pPr>
            <a:r>
              <a:rPr b="1" i="0" lang="en-US" u="none" cap="none" strike="noStrike">
                <a:solidFill>
                  <a:srgbClr val="FF6B00"/>
                </a:solidFill>
              </a:rPr>
              <a:t>Processamento em Tempo Real (Edge AI)</a:t>
            </a:r>
            <a:endParaRPr i="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134" name="Google Shape;13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11213" y="3687670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4029075" y="3910291"/>
            <a:ext cx="2386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975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87"/>
              <a:buFont typeface="Calibri"/>
              <a:buNone/>
            </a:pPr>
            <a:r>
              <a:rPr b="1" i="0" lang="en-US" u="none" cap="none" strike="noStrike">
                <a:solidFill>
                  <a:srgbClr val="FF6B00"/>
                </a:solidFill>
              </a:rPr>
              <a:t>Robótica para Ambientes Não Estruturados</a:t>
            </a:r>
            <a:endParaRPr i="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136" name="Google Shape;13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14554" y="3687664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/>
          <p:cNvSpPr/>
          <p:nvPr/>
        </p:nvSpPr>
        <p:spPr>
          <a:xfrm>
            <a:off x="6614554" y="3910291"/>
            <a:ext cx="23865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975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87"/>
              <a:buFont typeface="Calibri"/>
              <a:buNone/>
            </a:pPr>
            <a:r>
              <a:rPr b="1" i="0" lang="en-US" u="none" cap="none" strike="noStrike">
                <a:solidFill>
                  <a:srgbClr val="FF6B00"/>
                </a:solidFill>
              </a:rPr>
              <a:t>Simulação e Validação Digital</a:t>
            </a:r>
            <a:endParaRPr i="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dc7d63dbe_0_79"/>
          <p:cNvSpPr/>
          <p:nvPr/>
        </p:nvSpPr>
        <p:spPr>
          <a:xfrm>
            <a:off x="428625" y="428625"/>
            <a:ext cx="8286900" cy="41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adc7d63dbe_0_79"/>
          <p:cNvSpPr/>
          <p:nvPr/>
        </p:nvSpPr>
        <p:spPr>
          <a:xfrm>
            <a:off x="428625" y="295275"/>
            <a:ext cx="82869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602"/>
              <a:buFont typeface="Calibri"/>
              <a:buNone/>
            </a:pPr>
            <a:r>
              <a:rPr b="1" i="0" lang="en-US" sz="2902" u="none" cap="none" strike="noStrike">
                <a:solidFill>
                  <a:srgbClr val="004C99"/>
                </a:solidFill>
              </a:rPr>
              <a:t>Estratégia em um Mercado em Crescimento</a:t>
            </a:r>
            <a:endParaRPr i="0" sz="2902" u="none" cap="none" strike="noStrike">
              <a:solidFill>
                <a:schemeClr val="dk1"/>
              </a:solidFill>
            </a:endParaRPr>
          </a:p>
        </p:txBody>
      </p:sp>
      <p:sp>
        <p:nvSpPr>
          <p:cNvPr id="145" name="Google Shape;145;g3adc7d63dbe_0_79"/>
          <p:cNvSpPr/>
          <p:nvPr/>
        </p:nvSpPr>
        <p:spPr>
          <a:xfrm>
            <a:off x="1548987" y="947025"/>
            <a:ext cx="2958900" cy="1510200"/>
          </a:xfrm>
          <a:prstGeom prst="rect">
            <a:avLst/>
          </a:prstGeom>
          <a:solidFill>
            <a:srgbClr val="E0FFF8"/>
          </a:solidFill>
          <a:ln cap="flat" cmpd="sng" w="20525">
            <a:solidFill>
              <a:srgbClr val="00BD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625" lIns="102625" spcFirstLastPara="1" rIns="102625" wrap="square" tIns="102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6" name="Google Shape;146;g3adc7d63dbe_0_79"/>
          <p:cNvSpPr/>
          <p:nvPr/>
        </p:nvSpPr>
        <p:spPr>
          <a:xfrm>
            <a:off x="1677284" y="1075321"/>
            <a:ext cx="27024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D8D"/>
              </a:buClr>
              <a:buSzPts val="1339"/>
              <a:buFont typeface="Calibri"/>
              <a:buNone/>
            </a:pPr>
            <a:r>
              <a:rPr i="0" lang="en-US" sz="1200" u="none" cap="none" strike="noStrike">
                <a:solidFill>
                  <a:srgbClr val="00BD8D"/>
                </a:solidFill>
              </a:rPr>
              <a:t>Forças (S)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47" name="Google Shape;147;g3adc7d63dbe_0_79"/>
          <p:cNvSpPr/>
          <p:nvPr/>
        </p:nvSpPr>
        <p:spPr>
          <a:xfrm>
            <a:off x="1677284" y="1402074"/>
            <a:ext cx="2702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7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</a:rPr>
              <a:t>INOVAÇÃO.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48" name="Google Shape;148;g3adc7d63dbe_0_79"/>
          <p:cNvSpPr/>
          <p:nvPr/>
        </p:nvSpPr>
        <p:spPr>
          <a:xfrm>
            <a:off x="1677284" y="1637806"/>
            <a:ext cx="2702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7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</a:rPr>
              <a:t>MERCADO POUCO EXPLORADO.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49" name="Google Shape;149;g3adc7d63dbe_0_79"/>
          <p:cNvSpPr/>
          <p:nvPr/>
        </p:nvSpPr>
        <p:spPr>
          <a:xfrm>
            <a:off x="1677284" y="1873539"/>
            <a:ext cx="2702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7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</a:rPr>
              <a:t>AUTOMAÇÃO AVANÇADA E CHAMATIVA.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50" name="Google Shape;150;g3adc7d63dbe_0_79"/>
          <p:cNvSpPr/>
          <p:nvPr/>
        </p:nvSpPr>
        <p:spPr>
          <a:xfrm>
            <a:off x="4636125" y="947025"/>
            <a:ext cx="2958900" cy="1419000"/>
          </a:xfrm>
          <a:prstGeom prst="rect">
            <a:avLst/>
          </a:prstGeom>
          <a:solidFill>
            <a:srgbClr val="FFF5E0"/>
          </a:solidFill>
          <a:ln cap="flat" cmpd="sng" w="20525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625" lIns="102625" spcFirstLastPara="1" rIns="102625" wrap="square" tIns="102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1" name="Google Shape;151;g3adc7d63dbe_0_79"/>
          <p:cNvSpPr/>
          <p:nvPr/>
        </p:nvSpPr>
        <p:spPr>
          <a:xfrm>
            <a:off x="4764412" y="1075321"/>
            <a:ext cx="27024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39"/>
              <a:buFont typeface="Calibri"/>
              <a:buNone/>
            </a:pPr>
            <a:r>
              <a:rPr i="0" lang="en-US" sz="1200" u="none" cap="none" strike="noStrike">
                <a:solidFill>
                  <a:srgbClr val="FF6B00"/>
                </a:solidFill>
              </a:rPr>
              <a:t>Fraquezas (W)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52" name="Google Shape;152;g3adc7d63dbe_0_79"/>
          <p:cNvSpPr/>
          <p:nvPr/>
        </p:nvSpPr>
        <p:spPr>
          <a:xfrm>
            <a:off x="4764412" y="1402074"/>
            <a:ext cx="2702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7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</a:rPr>
              <a:t>COMPLEXIDADE NATURAL.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53" name="Google Shape;153;g3adc7d63dbe_0_79"/>
          <p:cNvSpPr/>
          <p:nvPr/>
        </p:nvSpPr>
        <p:spPr>
          <a:xfrm>
            <a:off x="4764412" y="1637806"/>
            <a:ext cx="2702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7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</a:rPr>
              <a:t>RELUTÂNCIA CULTURAL E LEGAL.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54" name="Google Shape;154;g3adc7d63dbe_0_79"/>
          <p:cNvSpPr/>
          <p:nvPr/>
        </p:nvSpPr>
        <p:spPr>
          <a:xfrm>
            <a:off x="4764412" y="1873539"/>
            <a:ext cx="2702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7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</a:rPr>
              <a:t>CUSTO ALTO DE PRODUÇÃO.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55" name="Google Shape;155;g3adc7d63dbe_0_79"/>
          <p:cNvSpPr/>
          <p:nvPr/>
        </p:nvSpPr>
        <p:spPr>
          <a:xfrm>
            <a:off x="1548987" y="2365863"/>
            <a:ext cx="2958900" cy="2356800"/>
          </a:xfrm>
          <a:prstGeom prst="rect">
            <a:avLst/>
          </a:prstGeom>
          <a:solidFill>
            <a:srgbClr val="E0FFF8"/>
          </a:solidFill>
          <a:ln cap="flat" cmpd="sng" w="20525">
            <a:solidFill>
              <a:srgbClr val="00BD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625" lIns="102625" spcFirstLastPara="1" rIns="102625" wrap="square" tIns="102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6" name="Google Shape;156;g3adc7d63dbe_0_79"/>
          <p:cNvSpPr/>
          <p:nvPr/>
        </p:nvSpPr>
        <p:spPr>
          <a:xfrm>
            <a:off x="1677284" y="2494159"/>
            <a:ext cx="27024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D8D"/>
              </a:buClr>
              <a:buSzPts val="1339"/>
              <a:buFont typeface="Calibri"/>
              <a:buNone/>
            </a:pPr>
            <a:r>
              <a:rPr i="0" lang="en-US" sz="1200" u="none" cap="none" strike="noStrike">
                <a:solidFill>
                  <a:srgbClr val="00BD8D"/>
                </a:solidFill>
              </a:rPr>
              <a:t>Oportunidades (O)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57" name="Google Shape;157;g3adc7d63dbe_0_79"/>
          <p:cNvSpPr/>
          <p:nvPr/>
        </p:nvSpPr>
        <p:spPr>
          <a:xfrm>
            <a:off x="1677284" y="2820913"/>
            <a:ext cx="2702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7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</a:rPr>
              <a:t>EFICIÊNCIA EM PRÓPRIA PRODUÇÃO.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58" name="Google Shape;158;g3adc7d63dbe_0_79"/>
          <p:cNvSpPr/>
          <p:nvPr/>
        </p:nvSpPr>
        <p:spPr>
          <a:xfrm>
            <a:off x="1677284" y="3189996"/>
            <a:ext cx="2702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7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</a:rPr>
              <a:t>MERCADO INTERNACIONAL.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59" name="Google Shape;159;g3adc7d63dbe_0_79"/>
          <p:cNvSpPr/>
          <p:nvPr/>
        </p:nvSpPr>
        <p:spPr>
          <a:xfrm>
            <a:off x="1677284" y="3378102"/>
            <a:ext cx="27024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7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</a:rPr>
              <a:t>FUTURO DE ALTA PROCURA (DEMANDA).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60" name="Google Shape;160;g3adc7d63dbe_0_79"/>
          <p:cNvSpPr/>
          <p:nvPr/>
        </p:nvSpPr>
        <p:spPr>
          <a:xfrm>
            <a:off x="1677284" y="3782404"/>
            <a:ext cx="27024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7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</a:rPr>
              <a:t>MANUFATURA DE ALTA PRECISÃO POUCO EXPLORADA.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61" name="Google Shape;161;g3adc7d63dbe_0_79"/>
          <p:cNvSpPr/>
          <p:nvPr/>
        </p:nvSpPr>
        <p:spPr>
          <a:xfrm>
            <a:off x="1677284" y="4186707"/>
            <a:ext cx="27024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7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</a:rPr>
              <a:t>AMBIENTE SEMI-ESTRUTURADO POUCO EXPLORADO.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62" name="Google Shape;162;g3adc7d63dbe_0_79"/>
          <p:cNvSpPr/>
          <p:nvPr/>
        </p:nvSpPr>
        <p:spPr>
          <a:xfrm>
            <a:off x="4636116" y="2365863"/>
            <a:ext cx="2958900" cy="2324700"/>
          </a:xfrm>
          <a:prstGeom prst="rect">
            <a:avLst/>
          </a:prstGeom>
          <a:solidFill>
            <a:srgbClr val="FFF5E0"/>
          </a:solidFill>
          <a:ln cap="flat" cmpd="sng" w="20525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625" lIns="102625" spcFirstLastPara="1" rIns="102625" wrap="square" tIns="102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3" name="Google Shape;163;g3adc7d63dbe_0_79"/>
          <p:cNvSpPr/>
          <p:nvPr/>
        </p:nvSpPr>
        <p:spPr>
          <a:xfrm>
            <a:off x="4764412" y="2494159"/>
            <a:ext cx="27024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39"/>
              <a:buFont typeface="Calibri"/>
              <a:buNone/>
            </a:pPr>
            <a:r>
              <a:rPr i="0" lang="en-US" sz="1200" u="none" cap="none" strike="noStrike">
                <a:solidFill>
                  <a:srgbClr val="FF6B00"/>
                </a:solidFill>
              </a:rPr>
              <a:t>Ameaças (T)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64" name="Google Shape;164;g3adc7d63dbe_0_79"/>
          <p:cNvSpPr/>
          <p:nvPr/>
        </p:nvSpPr>
        <p:spPr>
          <a:xfrm>
            <a:off x="4764412" y="2820913"/>
            <a:ext cx="2702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7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</a:rPr>
              <a:t>REAÇÃO POPULAR.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65" name="Google Shape;165;g3adc7d63dbe_0_79"/>
          <p:cNvSpPr/>
          <p:nvPr/>
        </p:nvSpPr>
        <p:spPr>
          <a:xfrm>
            <a:off x="4764412" y="3056646"/>
            <a:ext cx="2702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7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</a:rPr>
              <a:t>FALTA DE MÃO DE OBRA QUALIFICADA.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66" name="Google Shape;166;g3adc7d63dbe_0_79"/>
          <p:cNvSpPr/>
          <p:nvPr/>
        </p:nvSpPr>
        <p:spPr>
          <a:xfrm>
            <a:off x="4764412" y="3482877"/>
            <a:ext cx="2702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7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</a:rPr>
              <a:t>ESCASSEZ DE MATERIAL.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67" name="Google Shape;167;g3adc7d63dbe_0_79"/>
          <p:cNvSpPr/>
          <p:nvPr/>
        </p:nvSpPr>
        <p:spPr>
          <a:xfrm>
            <a:off x="4764412" y="3756709"/>
            <a:ext cx="27024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7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</a:rPr>
              <a:t>LEGISLAÇÃO AINDA NÃO CONSOLIDADA.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/>
          <p:nvPr/>
        </p:nvSpPr>
        <p:spPr>
          <a:xfrm>
            <a:off x="428625" y="428625"/>
            <a:ext cx="8286750" cy="41255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428625" y="428625"/>
            <a:ext cx="81291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602"/>
              <a:buFont typeface="Calibri"/>
              <a:buNone/>
            </a:pPr>
            <a:r>
              <a:rPr b="1" i="0" lang="en-US" sz="3002" u="none" cap="none" strike="noStrike">
                <a:solidFill>
                  <a:srgbClr val="004C99"/>
                </a:solidFill>
              </a:rPr>
              <a:t>Posicionamento Complementar</a:t>
            </a:r>
            <a:endParaRPr i="0" sz="3002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175" name="Google Shape;1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781" y="1323566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/>
          <p:nvPr/>
        </p:nvSpPr>
        <p:spPr>
          <a:xfrm>
            <a:off x="733934" y="1296775"/>
            <a:ext cx="16611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25"/>
              <a:buFont typeface="Calibri"/>
              <a:buNone/>
            </a:pPr>
            <a:r>
              <a:rPr b="1" i="0" lang="en-US" sz="1595" u="none" cap="none" strike="noStrike">
                <a:solidFill>
                  <a:srgbClr val="333333"/>
                </a:solidFill>
              </a:rPr>
              <a:t>Robótica Industrial</a:t>
            </a:r>
            <a:endParaRPr i="0" sz="1595" u="none" cap="none" strike="noStrike">
              <a:solidFill>
                <a:schemeClr val="dk1"/>
              </a:solidFill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91050" y="1830548"/>
            <a:ext cx="30957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53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74"/>
              <a:buFont typeface="Calibri"/>
              <a:buNone/>
            </a:pPr>
            <a:r>
              <a:rPr i="0" lang="en-US" sz="1595" u="none" cap="none" strike="noStrike">
                <a:solidFill>
                  <a:srgbClr val="333333"/>
                </a:solidFill>
              </a:rPr>
              <a:t>ABB, KUKA, FANUC</a:t>
            </a:r>
            <a:endParaRPr i="0" sz="1595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178" name="Google Shape;17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6" y="2389139"/>
            <a:ext cx="8929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/>
          <p:nvPr/>
        </p:nvSpPr>
        <p:spPr>
          <a:xfrm>
            <a:off x="757293" y="2341516"/>
            <a:ext cx="24891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25"/>
              <a:buFont typeface="Calibri"/>
              <a:buNone/>
            </a:pPr>
            <a:r>
              <a:rPr b="1" i="0" lang="en-US" sz="1595" u="none" cap="none" strike="noStrike">
                <a:solidFill>
                  <a:srgbClr val="333333"/>
                </a:solidFill>
              </a:rPr>
              <a:t>Robótica Móvel e Humanoide</a:t>
            </a:r>
            <a:endParaRPr i="0" sz="1595" u="none" cap="none" strike="noStrike">
              <a:solidFill>
                <a:schemeClr val="dk1"/>
              </a:solidFill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09600" y="2845675"/>
            <a:ext cx="33528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53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74"/>
              <a:buFont typeface="Calibri"/>
              <a:buNone/>
            </a:pPr>
            <a:r>
              <a:rPr i="0" lang="en-US" sz="1595" u="none" cap="none" strike="noStrike">
                <a:solidFill>
                  <a:srgbClr val="333333"/>
                </a:solidFill>
              </a:rPr>
              <a:t>Boston Dynamics, Agility Robotics</a:t>
            </a:r>
            <a:endParaRPr i="0" sz="1595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181" name="Google Shape;18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7094" y="348092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742155" y="3424356"/>
            <a:ext cx="3461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25"/>
              <a:buFont typeface="Calibri"/>
              <a:buNone/>
            </a:pPr>
            <a:r>
              <a:rPr b="1" i="0" lang="en-US" sz="1595" u="none" cap="none" strike="noStrike">
                <a:solidFill>
                  <a:srgbClr val="333333"/>
                </a:solidFill>
              </a:rPr>
              <a:t>Plataformas Tecnológicas e Digitalização</a:t>
            </a:r>
            <a:endParaRPr i="0" sz="1595" u="none" cap="none" strike="noStrike">
              <a:solidFill>
                <a:schemeClr val="dk1"/>
              </a:solidFill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00075" y="3909475"/>
            <a:ext cx="40005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53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74"/>
              <a:buFont typeface="Calibri"/>
              <a:buNone/>
            </a:pPr>
            <a:r>
              <a:rPr i="0" lang="en-US" sz="1595" u="none" cap="none" strike="noStrike">
                <a:solidFill>
                  <a:srgbClr val="333333"/>
                </a:solidFill>
              </a:rPr>
              <a:t>Siemens, NVIDIA, Rockwell Automation</a:t>
            </a:r>
            <a:endParaRPr i="0" sz="1595" u="none" cap="none" strike="noStrike">
              <a:solidFill>
                <a:schemeClr val="dk1"/>
              </a:solidFill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150650" y="1296775"/>
            <a:ext cx="36885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62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93"/>
              <a:buFont typeface="Calibri"/>
              <a:buNone/>
            </a:pPr>
            <a:r>
              <a:rPr b="1" i="0" lang="en-US" sz="1500" u="none" cap="none" strike="noStrike">
                <a:solidFill>
                  <a:srgbClr val="FF6B00"/>
                </a:solidFill>
              </a:rPr>
              <a:t>A NOVANTIS posiciona-se de forma complementa</a:t>
            </a:r>
            <a:r>
              <a:rPr b="1" lang="en-US" sz="1500">
                <a:solidFill>
                  <a:srgbClr val="FF6B00"/>
                </a:solidFill>
              </a:rPr>
              <a:t>r </a:t>
            </a:r>
            <a:r>
              <a:rPr b="1" i="0" lang="en-US" sz="1500" u="none" cap="none" strike="noStrike">
                <a:solidFill>
                  <a:srgbClr val="FF6B00"/>
                </a:solidFill>
              </a:rPr>
              <a:t> as grandes </a:t>
            </a:r>
            <a:r>
              <a:rPr b="1" lang="en-US" sz="1500">
                <a:solidFill>
                  <a:srgbClr val="FF6B00"/>
                </a:solidFill>
              </a:rPr>
              <a:t>empresas</a:t>
            </a:r>
            <a:r>
              <a:rPr b="1" i="0" lang="en-US" sz="1500" u="none" cap="none" strike="noStrike">
                <a:solidFill>
                  <a:srgbClr val="FF6B00"/>
                </a:solidFill>
              </a:rPr>
              <a:t> do mercado.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150650" y="2458240"/>
            <a:ext cx="3688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050"/>
              <a:buFont typeface="Calibri"/>
              <a:buNone/>
            </a:pPr>
            <a:r>
              <a:rPr i="0" lang="en-US" sz="1500" u="none" cap="none" strike="noStrike">
                <a:solidFill>
                  <a:srgbClr val="004C99"/>
                </a:solidFill>
              </a:rPr>
              <a:t>Foco em: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186" name="Google Shape;18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50644" y="2817754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/>
          <p:nvPr/>
        </p:nvSpPr>
        <p:spPr>
          <a:xfrm>
            <a:off x="5341440" y="2760075"/>
            <a:ext cx="18069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050"/>
              <a:buFont typeface="Calibri"/>
              <a:buNone/>
            </a:pPr>
            <a:r>
              <a:rPr i="0" lang="en-US" sz="1500" u="none" cap="none" strike="noStrike">
                <a:solidFill>
                  <a:srgbClr val="004C99"/>
                </a:solidFill>
              </a:rPr>
              <a:t>Soluções</a:t>
            </a:r>
            <a:r>
              <a:rPr lang="en-US" sz="1500">
                <a:solidFill>
                  <a:srgbClr val="004C99"/>
                </a:solidFill>
              </a:rPr>
              <a:t> </a:t>
            </a:r>
            <a:r>
              <a:rPr i="0" lang="en-US" sz="1500" u="none" cap="none" strike="noStrike">
                <a:solidFill>
                  <a:srgbClr val="004C99"/>
                </a:solidFill>
              </a:rPr>
              <a:t>personalizadas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188" name="Google Shape;18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50644" y="3284479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/>
          <p:nvPr/>
        </p:nvSpPr>
        <p:spPr>
          <a:xfrm>
            <a:off x="5341440" y="3287563"/>
            <a:ext cx="26289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050"/>
              <a:buFont typeface="Calibri"/>
              <a:buNone/>
            </a:pPr>
            <a:r>
              <a:rPr i="0" lang="en-US" sz="1500" u="none" cap="none" strike="noStrike">
                <a:solidFill>
                  <a:srgbClr val="004C99"/>
                </a:solidFill>
              </a:rPr>
              <a:t>Aprendizagem adaptativa</a:t>
            </a:r>
            <a:r>
              <a:rPr lang="en-US" sz="1500">
                <a:solidFill>
                  <a:srgbClr val="004C99"/>
                </a:solidFill>
              </a:rPr>
              <a:t> </a:t>
            </a:r>
            <a:r>
              <a:rPr i="0" lang="en-US" sz="1500" u="none" cap="none" strike="noStrike">
                <a:solidFill>
                  <a:srgbClr val="004C99"/>
                </a:solidFill>
              </a:rPr>
              <a:t>(Physical AI).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190" name="Google Shape;19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50644" y="3894079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"/>
          <p:cNvSpPr/>
          <p:nvPr/>
        </p:nvSpPr>
        <p:spPr>
          <a:xfrm>
            <a:off x="5322100" y="3855976"/>
            <a:ext cx="3114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050"/>
              <a:buFont typeface="Calibri"/>
              <a:buNone/>
            </a:pPr>
            <a:r>
              <a:rPr i="0" lang="en-US" sz="1500" u="none" cap="none" strike="noStrike">
                <a:solidFill>
                  <a:srgbClr val="004C99"/>
                </a:solidFill>
              </a:rPr>
              <a:t>Aplicações em contextos onde a padronização apresenta limitações.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7" name="Google Shape;1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0"/>
          <p:cNvSpPr/>
          <p:nvPr/>
        </p:nvSpPr>
        <p:spPr>
          <a:xfrm>
            <a:off x="428625" y="428625"/>
            <a:ext cx="49722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602"/>
              <a:buFont typeface="Calibri"/>
              <a:buNone/>
            </a:pPr>
            <a:r>
              <a:rPr b="1" i="0" lang="en-US" sz="3000" u="none" cap="none" strike="noStrike">
                <a:solidFill>
                  <a:srgbClr val="004C99"/>
                </a:solidFill>
              </a:rPr>
              <a:t>Segmentos Prioritários</a:t>
            </a:r>
            <a:endParaRPr i="0" sz="30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199" name="Google Shape;19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1335286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/>
          <p:nvPr/>
        </p:nvSpPr>
        <p:spPr>
          <a:xfrm>
            <a:off x="780465" y="1311975"/>
            <a:ext cx="19857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193"/>
              <a:buFont typeface="Calibri"/>
              <a:buNone/>
            </a:pPr>
            <a:r>
              <a:rPr b="1" i="0" lang="en-US" sz="1500" u="none" cap="none" strike="noStrike">
                <a:solidFill>
                  <a:srgbClr val="004C99"/>
                </a:solidFill>
              </a:rPr>
              <a:t>Clientes-Alvo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428625" y="1662440"/>
            <a:ext cx="81630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500" u="none" cap="none" strike="noStrike">
                <a:solidFill>
                  <a:srgbClr val="333333"/>
                </a:solidFill>
              </a:rPr>
              <a:t>Empresas industriais e logísticas que enfrentam escassez de mão de obra ou necessidade de maior flexibilidade operacional.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202" name="Google Shape;20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355056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0"/>
          <p:cNvSpPr/>
          <p:nvPr/>
        </p:nvSpPr>
        <p:spPr>
          <a:xfrm>
            <a:off x="745280" y="2318281"/>
            <a:ext cx="34194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193"/>
              <a:buFont typeface="Calibri"/>
              <a:buNone/>
            </a:pPr>
            <a:r>
              <a:rPr b="1" i="0" lang="en-US" sz="1500" u="none" cap="none" strike="noStrike">
                <a:solidFill>
                  <a:srgbClr val="004C99"/>
                </a:solidFill>
              </a:rPr>
              <a:t>Segmentos Prioritários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428625" y="2668747"/>
            <a:ext cx="81630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500" u="none" cap="none" strike="noStrike">
                <a:solidFill>
                  <a:srgbClr val="333333"/>
                </a:solidFill>
              </a:rPr>
              <a:t>Logística e armazenagem.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28625" y="2947479"/>
            <a:ext cx="81630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500" u="none" cap="none" strike="noStrike">
                <a:solidFill>
                  <a:srgbClr val="333333"/>
                </a:solidFill>
              </a:rPr>
              <a:t>Manufatura de precisão e metalomecânica.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28625" y="3226212"/>
            <a:ext cx="81630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500" u="none" cap="none" strike="noStrike">
                <a:solidFill>
                  <a:srgbClr val="333333"/>
                </a:solidFill>
              </a:rPr>
              <a:t>Construção em grande escala e serviços assistidos.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207" name="Google Shape;20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725" y="3693914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/>
          <p:nvPr/>
        </p:nvSpPr>
        <p:spPr>
          <a:xfrm>
            <a:off x="710097" y="3668904"/>
            <a:ext cx="22137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193"/>
              <a:buFont typeface="Calibri"/>
              <a:buNone/>
            </a:pPr>
            <a:r>
              <a:rPr b="1" i="0" lang="en-US" sz="1500" u="none" cap="none" strike="noStrike">
                <a:solidFill>
                  <a:srgbClr val="004C99"/>
                </a:solidFill>
              </a:rPr>
              <a:t>Mercados Foco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28625" y="4019370"/>
            <a:ext cx="81630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87"/>
              <a:buFont typeface="Calibri"/>
              <a:buNone/>
            </a:pPr>
            <a:r>
              <a:rPr b="1" i="0" lang="en-US" sz="1500" u="none" cap="none" strike="noStrike">
                <a:solidFill>
                  <a:srgbClr val="FF6B00"/>
                </a:solidFill>
              </a:rPr>
              <a:t>Japão, Coreia do Sul</a:t>
            </a:r>
            <a:r>
              <a:rPr i="0" lang="en-US" sz="1500" u="none" cap="none" strike="noStrike">
                <a:solidFill>
                  <a:srgbClr val="333333"/>
                </a:solidFill>
              </a:rPr>
              <a:t> e regiões selecionadas da </a:t>
            </a:r>
            <a:r>
              <a:rPr b="1" i="0" lang="en-US" sz="1500" u="none" cap="none" strike="noStrike">
                <a:solidFill>
                  <a:srgbClr val="FF6B00"/>
                </a:solidFill>
              </a:rPr>
              <a:t>Europa e América</a:t>
            </a:r>
            <a:r>
              <a:rPr i="0" lang="en-US" sz="1500" u="none" cap="none" strike="noStrike">
                <a:solidFill>
                  <a:srgbClr val="333333"/>
                </a:solidFill>
              </a:rPr>
              <a:t>.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28625" y="4298102"/>
            <a:ext cx="81630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500" u="none" cap="none" strike="noStrike">
                <a:solidFill>
                  <a:srgbClr val="333333"/>
                </a:solidFill>
              </a:rPr>
              <a:t>Privilegiando a automação colaborativa e modelos de </a:t>
            </a:r>
            <a:r>
              <a:rPr b="1" i="0" lang="en-US" sz="1500" u="none" cap="none" strike="noStrike">
                <a:solidFill>
                  <a:srgbClr val="FF6B00"/>
                </a:solidFill>
              </a:rPr>
              <a:t>Robot as a Service</a:t>
            </a:r>
            <a:r>
              <a:rPr i="0" lang="en-US" sz="1500" u="none" cap="none" strike="noStrike">
                <a:solidFill>
                  <a:srgbClr val="333333"/>
                </a:solidFill>
              </a:rPr>
              <a:t>.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6" name="Google Shape;2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1"/>
          <p:cNvSpPr/>
          <p:nvPr/>
        </p:nvSpPr>
        <p:spPr>
          <a:xfrm>
            <a:off x="4029075" y="699195"/>
            <a:ext cx="4972050" cy="412552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602"/>
              <a:buFont typeface="Calibri"/>
              <a:buNone/>
            </a:pPr>
            <a:r>
              <a:rPr b="1" i="0" lang="en-US" sz="3000" u="none" cap="none" strike="noStrike">
                <a:solidFill>
                  <a:srgbClr val="004C99"/>
                </a:solidFill>
              </a:rPr>
              <a:t>Service First: Parceria de Longo Prazo</a:t>
            </a:r>
            <a:endParaRPr i="0" sz="30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218" name="Google Shape;21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9075" y="188327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"/>
          <p:cNvSpPr/>
          <p:nvPr/>
        </p:nvSpPr>
        <p:spPr>
          <a:xfrm>
            <a:off x="4343400" y="1868973"/>
            <a:ext cx="46578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500" u="none" cap="none" strike="noStrike">
                <a:solidFill>
                  <a:srgbClr val="333333"/>
                </a:solidFill>
              </a:rPr>
              <a:t>Manutenção preventiva e preditiva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220" name="Google Shape;22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29075" y="240714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1"/>
          <p:cNvSpPr/>
          <p:nvPr/>
        </p:nvSpPr>
        <p:spPr>
          <a:xfrm>
            <a:off x="4343400" y="2378564"/>
            <a:ext cx="43632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500" u="none" cap="none" strike="noStrike">
                <a:solidFill>
                  <a:srgbClr val="333333"/>
                </a:solidFill>
              </a:rPr>
              <a:t>Suporte urgente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222" name="Google Shape;22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29075" y="286434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1"/>
          <p:cNvSpPr/>
          <p:nvPr/>
        </p:nvSpPr>
        <p:spPr>
          <a:xfrm>
            <a:off x="4343400" y="2853814"/>
            <a:ext cx="46578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lang="en-US" sz="1500">
                <a:solidFill>
                  <a:srgbClr val="333333"/>
                </a:solidFill>
              </a:rPr>
              <a:t>A</a:t>
            </a:r>
            <a:r>
              <a:rPr i="0" lang="en-US" sz="1500" u="none" cap="none" strike="noStrike">
                <a:solidFill>
                  <a:srgbClr val="333333"/>
                </a:solidFill>
              </a:rPr>
              <a:t>tualizações contínuas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224" name="Google Shape;22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29075" y="3312021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1"/>
          <p:cNvSpPr/>
          <p:nvPr/>
        </p:nvSpPr>
        <p:spPr>
          <a:xfrm>
            <a:off x="4386263" y="3287206"/>
            <a:ext cx="4233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500" u="none" cap="none" strike="noStrike">
                <a:solidFill>
                  <a:srgbClr val="333333"/>
                </a:solidFill>
              </a:rPr>
              <a:t>Formação técnica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4029075" y="3854946"/>
            <a:ext cx="4972050" cy="589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50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1193"/>
              <a:buFont typeface="Calibri"/>
              <a:buNone/>
            </a:pPr>
            <a:r>
              <a:rPr b="1" i="0" lang="en-US" sz="1200" u="none" cap="none" strike="noStrike">
                <a:solidFill>
                  <a:srgbClr val="004C99"/>
                </a:solidFill>
              </a:rPr>
              <a:t>Garantia de fiabilidade, evolução tecnológica contínu</a:t>
            </a:r>
            <a:r>
              <a:rPr b="1" lang="en-US" sz="1200">
                <a:solidFill>
                  <a:srgbClr val="004C99"/>
                </a:solidFill>
              </a:rPr>
              <a:t>a</a:t>
            </a:r>
            <a:r>
              <a:rPr b="1" i="0" lang="en-US" sz="1200" u="none" cap="none" strike="noStrike">
                <a:solidFill>
                  <a:srgbClr val="004C99"/>
                </a:solidFill>
              </a:rPr>
              <a:t> e parceria sustentável.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pic>
        <p:nvPicPr>
          <p:cNvPr id="227" name="Google Shape;227;p11" title="Gemini_Generated_Image_ji6vx0ji6vx0ji6v.png"/>
          <p:cNvPicPr preferRelativeResize="0"/>
          <p:nvPr/>
        </p:nvPicPr>
        <p:blipFill rotWithShape="1">
          <a:blip r:embed="rId8">
            <a:alphaModFix/>
          </a:blip>
          <a:srcRect b="9255" l="0" r="0" t="0"/>
          <a:stretch/>
        </p:blipFill>
        <p:spPr>
          <a:xfrm>
            <a:off x="323850" y="954412"/>
            <a:ext cx="3390899" cy="307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/>
          <p:nvPr/>
        </p:nvSpPr>
        <p:spPr>
          <a:xfrm>
            <a:off x="428550" y="1899014"/>
            <a:ext cx="8286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004C99"/>
              </a:buClr>
              <a:buSzPts val="2436"/>
              <a:buFont typeface="Calibri"/>
              <a:buNone/>
            </a:pPr>
            <a:r>
              <a:rPr b="1" i="0" lang="en-US" sz="3036" u="none" cap="none" strike="noStrike">
                <a:solidFill>
                  <a:srgbClr val="004C99"/>
                </a:solidFill>
              </a:rPr>
              <a:t>NOVANTIS: Construindo o Futuro da Automação</a:t>
            </a:r>
            <a:endParaRPr i="0" sz="3036" u="none" cap="none" strike="noStrike">
              <a:solidFill>
                <a:schemeClr val="dk1"/>
              </a:solidFill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691920" y="2867661"/>
            <a:ext cx="7760100" cy="376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691920" y="3208775"/>
            <a:ext cx="7760100" cy="35700"/>
          </a:xfrm>
          <a:prstGeom prst="rect">
            <a:avLst/>
          </a:prstGeom>
          <a:solidFill>
            <a:srgbClr val="00BD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12"/>
          <p:cNvPicPr preferRelativeResize="0"/>
          <p:nvPr/>
        </p:nvPicPr>
        <p:blipFill rotWithShape="1">
          <a:blip r:embed="rId3">
            <a:alphaModFix/>
          </a:blip>
          <a:srcRect b="0" l="0" r="21758" t="0"/>
          <a:stretch/>
        </p:blipFill>
        <p:spPr>
          <a:xfrm>
            <a:off x="4572000" y="4429125"/>
            <a:ext cx="44862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304800"/>
            <a:ext cx="707985" cy="601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2"/>
          <p:cNvSpPr txBox="1"/>
          <p:nvPr/>
        </p:nvSpPr>
        <p:spPr>
          <a:xfrm>
            <a:off x="1179400" y="228588"/>
            <a:ext cx="5659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250" lIns="113250" spcFirstLastPara="1" rIns="113250" wrap="square" tIns="11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8">
                <a:latin typeface="Times New Roman"/>
                <a:ea typeface="Times New Roman"/>
                <a:cs typeface="Times New Roman"/>
                <a:sym typeface="Times New Roman"/>
              </a:rPr>
              <a:t>IEFP - INSTITUTO DE EMPREGO E FORMAÇÃO PROFISSIONAL</a:t>
            </a:r>
            <a:endParaRPr sz="1734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2025-12-05T08:30:11Z</dcterms:created>
  <dc:creator>PptxGenJS</dc:creator>
</cp:coreProperties>
</file>